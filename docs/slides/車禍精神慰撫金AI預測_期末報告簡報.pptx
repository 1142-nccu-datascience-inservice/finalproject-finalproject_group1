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47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0">
                <a:solidFill>
                  <a:srgbClr val="FFFFFF"/>
                </a:solidFill>
                <a:latin typeface="Microsoft JhengHei"/>
              </a:rPr>
              <a:t>⚖️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46888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FFFFFF"/>
                </a:solidFill>
                <a:latin typeface="Microsoft JhengHei"/>
              </a:rPr>
              <a:t>車禍精神慰撫金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9184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8C00"/>
                </a:solidFill>
                <a:latin typeface="Microsoft JhengHei"/>
              </a:rPr>
              <a:t>AI 預測系統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38912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FFFFFF"/>
                </a:solidFill>
                <a:latin typeface="Microsoft JhengHei"/>
              </a:rPr>
              <a:t>用 7,050 筆真實判決，教 AI 幫你算「該賠多少 + 怎麼少賠」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7607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4F6F9"/>
                </a:solidFill>
                <a:latin typeface="Microsoft JhengHei"/>
              </a:rPr>
              <a:t>資料科學期末專題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crosoft JhengHei"/>
              </a:rPr>
              <a:t>🐒 一句話介紹（猴子也懂版）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465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Microsoft JhengHei"/>
              </a:rPr>
              <a:t>車禍精神慰撫金 AI 預測系統 ｜ 資料科學期末專題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  <a:latin typeface="Microsoft JhengHei"/>
              </a:rPr>
              <a:t>2 / 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0" y="1280160"/>
            <a:ext cx="9418320" cy="2011680"/>
          </a:xfrm>
          <a:prstGeom prst="round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554480" y="14630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555555"/>
                </a:solidFill>
                <a:latin typeface="Microsoft JhengHei"/>
              </a:rPr>
              <a:t>如果你發生車禍⋯⋯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2011680"/>
            <a:ext cx="9144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1F3A5F"/>
                </a:solidFill>
                <a:latin typeface="Microsoft JhengHei"/>
              </a:rPr>
              <a:t>「我大概要賠多少錢？」</a:t>
            </a:r>
          </a:p>
          <a:p>
            <a:pPr algn="ctr"/>
            <a:r>
              <a:rPr sz="2600" b="1">
                <a:solidFill>
                  <a:srgbClr val="1F3A5F"/>
                </a:solidFill>
                <a:latin typeface="Microsoft JhengHei"/>
              </a:rPr>
              <a:t>「有沒有辦法少賠一點？」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66160"/>
            <a:ext cx="9418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555555"/>
                </a:solidFill>
                <a:latin typeface="Microsoft JhengHei"/>
              </a:rPr>
              <a:t>👇 我們做了一個網站，AI 直接回答這兩個問題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371600" y="4297680"/>
            <a:ext cx="4389120" cy="1920240"/>
          </a:xfrm>
          <a:prstGeom prst="roundRect">
            <a:avLst/>
          </a:prstGeom>
          <a:solidFill>
            <a:srgbClr val="E8F0FE"/>
          </a:solidFill>
          <a:ln w="19050">
            <a:solidFill>
              <a:srgbClr val="0068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389120"/>
            <a:ext cx="4389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>
                <a:solidFill>
                  <a:srgbClr val="1F3A5F"/>
                </a:solidFill>
                <a:latin typeface="Microsoft JhengHei"/>
              </a:rPr>
              <a:t>🔮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507492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068C9"/>
                </a:solidFill>
                <a:latin typeface="Microsoft JhengHei"/>
              </a:rPr>
              <a:t>功能 1：預測賠多少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553212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555555"/>
                </a:solidFill>
                <a:latin typeface="Microsoft JhengHei"/>
              </a:rPr>
              <a:t>輸入案件條件 → 預測金額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46520" y="4297680"/>
            <a:ext cx="4389120" cy="1920240"/>
          </a:xfrm>
          <a:prstGeom prst="roundRect">
            <a:avLst/>
          </a:prstGeom>
          <a:solidFill>
            <a:srgbClr val="FFF3E0"/>
          </a:solidFill>
          <a:ln w="19050">
            <a:solidFill>
              <a:srgbClr val="FF8C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6520" y="4389120"/>
            <a:ext cx="4389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>
                <a:solidFill>
                  <a:srgbClr val="1F3A5F"/>
                </a:solidFill>
                <a:latin typeface="Microsoft JhengHei"/>
              </a:rPr>
              <a:t>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507492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8C00"/>
                </a:solidFill>
                <a:latin typeface="Microsoft JhengHei"/>
              </a:rPr>
              <a:t>功能 2：教你少賠一點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553212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555555"/>
                </a:solidFill>
                <a:latin typeface="Microsoft JhengHei"/>
              </a:rPr>
              <a:t>模擬各種策略 → 算出可省金額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crosoft JhengHei"/>
              </a:rPr>
              <a:t>🎯 為什麼要做這個？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465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Microsoft JhengHei"/>
              </a:rPr>
              <a:t>車禍精神慰撫金 AI 預測系統 ｜ 資料科學期末專題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  <a:latin typeface="Microsoft JhengHei"/>
              </a:rPr>
              <a:t>3 /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0972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C0392B"/>
                </a:solidFill>
                <a:latin typeface="Microsoft JhengHei"/>
              </a:rPr>
              <a:t>❌ 問題：精神慰撫金沒有公式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737360"/>
            <a:ext cx="10972800" cy="1371600"/>
          </a:xfrm>
          <a:prstGeom prst="round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874519"/>
            <a:ext cx="10698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F3A5F"/>
                </a:solidFill>
                <a:latin typeface="Microsoft JhengHei"/>
              </a:rPr>
              <a:t>法律只說「依情節輕重酌定」⋯⋯ 法官憑經驗判。</a:t>
            </a:r>
          </a:p>
          <a:p>
            <a:pPr algn="l"/>
            <a:r>
              <a:rPr sz="1800" b="0">
                <a:solidFill>
                  <a:srgbClr val="1F3A5F"/>
                </a:solidFill>
                <a:latin typeface="Microsoft JhengHei"/>
              </a:rPr>
              <a:t>同樣車禍，A 法官判 30 萬，B 法官可能判 80 萬，當事人完全猜不到。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3832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2E8B57"/>
                </a:solidFill>
                <a:latin typeface="Microsoft JhengHei"/>
              </a:rPr>
              <a:t>✅ 我們的解法：讓 AI 從過去判決找出規律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4023360"/>
            <a:ext cx="10972800" cy="2011680"/>
          </a:xfrm>
          <a:prstGeom prst="round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4160520"/>
            <a:ext cx="10698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F3A5F"/>
                </a:solidFill>
                <a:latin typeface="Microsoft JhengHei"/>
              </a:rPr>
              <a:t>1️⃣ 把過去 7,050 件車禍判決全部餵給電腦</a:t>
            </a:r>
          </a:p>
          <a:p>
            <a:pPr algn="l"/>
            <a:r>
              <a:rPr sz="1800" b="0">
                <a:solidFill>
                  <a:srgbClr val="1F3A5F"/>
                </a:solidFill>
                <a:latin typeface="Microsoft JhengHei"/>
              </a:rPr>
              <a:t>2️⃣ 電腦自己學：什麼條件 → 通常判多少錢</a:t>
            </a:r>
          </a:p>
          <a:p>
            <a:pPr algn="l"/>
            <a:r>
              <a:rPr sz="1800" b="0">
                <a:solidFill>
                  <a:srgbClr val="1F3A5F"/>
                </a:solidFill>
                <a:latin typeface="Microsoft JhengHei"/>
              </a:rPr>
              <a:t>3️⃣ 未來你輸入案情，電腦就能說：「大概賠 XX 元」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crosoft JhengHei"/>
              </a:rPr>
              <a:t>📂 資料從哪來？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465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Microsoft JhengHei"/>
              </a:rPr>
              <a:t>車禍精神慰撫金 AI 預測系統 ｜ 資料科學期末專題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  <a:latin typeface="Microsoft JhengHei"/>
              </a:rPr>
              <a:t>4 /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0972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F3A5F"/>
                </a:solidFill>
                <a:latin typeface="Microsoft JhengHei"/>
              </a:rPr>
              <a:t>來源：司法院裁判書開放資料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600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55555"/>
                </a:solidFill>
                <a:latin typeface="Microsoft JhengHei"/>
              </a:rPr>
              <a:t>（所有法院判決都會公開上網，任何人都可下載）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5127" y="2468880"/>
            <a:ext cx="2194560" cy="1371600"/>
          </a:xfrm>
          <a:prstGeom prst="roundRect">
            <a:avLst/>
          </a:prstGeom>
          <a:solidFill>
            <a:srgbClr val="F4F6F9"/>
          </a:solidFill>
          <a:ln w="19050">
            <a:solidFill>
              <a:srgbClr val="0068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5127" y="256032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1F3A5F"/>
                </a:solidFill>
                <a:latin typeface="Microsoft JhengHei"/>
              </a:rPr>
              <a:t>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5127" y="310896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068C9"/>
                </a:solidFill>
                <a:latin typeface="Microsoft JhengHei"/>
              </a:rPr>
              <a:t>RAR 壓縮檔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5127" y="342900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555555"/>
                </a:solidFill>
                <a:latin typeface="Microsoft JhengHei"/>
              </a:rPr>
              <a:t>1996~2026 全部判決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83967" y="2971800"/>
            <a:ext cx="228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0068C9"/>
                </a:solidFill>
                <a:latin typeface="Microsoft JhengHei"/>
              </a:rPr>
              <a:t>▶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666847" y="2468880"/>
            <a:ext cx="2194560" cy="1371600"/>
          </a:xfrm>
          <a:prstGeom prst="roundRect">
            <a:avLst/>
          </a:prstGeom>
          <a:solidFill>
            <a:srgbClr val="F4F6F9"/>
          </a:solidFill>
          <a:ln w="19050">
            <a:solidFill>
              <a:srgbClr val="0068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666847" y="256032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1F3A5F"/>
                </a:solidFill>
                <a:latin typeface="Microsoft JhengHei"/>
              </a:rPr>
              <a:t>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66847" y="310896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068C9"/>
                </a:solidFill>
                <a:latin typeface="Microsoft JhengHei"/>
              </a:rPr>
              <a:t>解壓成 JSON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66847" y="342900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555555"/>
                </a:solidFill>
                <a:latin typeface="Microsoft JhengHei"/>
              </a:rPr>
              <a:t>一個 JSON = 一份判決書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15687" y="2971800"/>
            <a:ext cx="228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0068C9"/>
                </a:solidFill>
                <a:latin typeface="Microsoft JhengHei"/>
              </a:rPr>
              <a:t>▶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998567" y="2468880"/>
            <a:ext cx="2194560" cy="1371600"/>
          </a:xfrm>
          <a:prstGeom prst="roundRect">
            <a:avLst/>
          </a:prstGeom>
          <a:solidFill>
            <a:srgbClr val="F4F6F9"/>
          </a:solidFill>
          <a:ln w="19050">
            <a:solidFill>
              <a:srgbClr val="FF8C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998567" y="256032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1F3A5F"/>
                </a:solidFill>
                <a:latin typeface="Microsoft JhengHei"/>
              </a:rPr>
              <a:t>🔍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98567" y="310896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8C00"/>
                </a:solidFill>
                <a:latin typeface="Microsoft JhengHei"/>
              </a:rPr>
              <a:t>篩選車禍案件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98567" y="342900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555555"/>
                </a:solidFill>
                <a:latin typeface="Microsoft JhengHei"/>
              </a:rPr>
              <a:t>只留民事 + 損賠 + 車禍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47407" y="2971800"/>
            <a:ext cx="228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8C00"/>
                </a:solidFill>
                <a:latin typeface="Microsoft JhengHei"/>
              </a:rPr>
              <a:t>▶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30287" y="2468880"/>
            <a:ext cx="2194560" cy="1371600"/>
          </a:xfrm>
          <a:prstGeom prst="roundRect">
            <a:avLst/>
          </a:prstGeom>
          <a:solidFill>
            <a:srgbClr val="F4F6F9"/>
          </a:solidFill>
          <a:ln w="19050">
            <a:solidFill>
              <a:srgbClr val="FF8C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30287" y="256032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1F3A5F"/>
                </a:solidFill>
                <a:latin typeface="Microsoft JhengHei"/>
              </a:rPr>
              <a:t>✂️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30287" y="310896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8C00"/>
                </a:solidFill>
                <a:latin typeface="Microsoft JhengHei"/>
              </a:rPr>
              <a:t>用正則擷取金額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30287" y="342900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555555"/>
                </a:solidFill>
                <a:latin typeface="Microsoft JhengHei"/>
              </a:rPr>
              <a:t>醫療費／看護費／慰撫金⋯⋯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79127" y="2971800"/>
            <a:ext cx="228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8C00"/>
                </a:solidFill>
                <a:latin typeface="Microsoft JhengHei"/>
              </a:rPr>
              <a:t>▶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662007" y="2468880"/>
            <a:ext cx="2194560" cy="1371600"/>
          </a:xfrm>
          <a:prstGeom prst="roundRect">
            <a:avLst/>
          </a:prstGeom>
          <a:solidFill>
            <a:srgbClr val="F4F6F9"/>
          </a:solidFill>
          <a:ln w="19050">
            <a:solidFill>
              <a:srgbClr val="2E8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662007" y="256032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1F3A5F"/>
                </a:solidFill>
                <a:latin typeface="Microsoft JhengHei"/>
              </a:rPr>
              <a:t>📊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62007" y="310896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2E8B57"/>
                </a:solidFill>
                <a:latin typeface="Microsoft JhengHei"/>
              </a:rPr>
              <a:t>7,050 筆乾淨表格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62007" y="342900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555555"/>
                </a:solidFill>
                <a:latin typeface="Microsoft JhengHei"/>
              </a:rPr>
              <a:t>可以餵給 AI 了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0080" y="4572000"/>
            <a:ext cx="10972800" cy="1463040"/>
          </a:xfrm>
          <a:prstGeom prst="roundRect">
            <a:avLst/>
          </a:prstGeom>
          <a:solidFill>
            <a:srgbClr val="FFF8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2960" y="46634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F3A5F"/>
                </a:solidFill>
                <a:latin typeface="Microsoft JhengHei"/>
              </a:rPr>
              <a:t>📝 篩選條件（為什麼是 7,050 筆？）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960" y="507492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55555"/>
                </a:solidFill>
                <a:latin typeface="Microsoft JhengHei"/>
              </a:rPr>
              <a:t>• 民國 112~114 年（最新判決）   • 地方法院民事案件   • 案由含「損害賠償」</a:t>
            </a:r>
          </a:p>
          <a:p>
            <a:pPr algn="l"/>
            <a:r>
              <a:rPr sz="1300" b="0">
                <a:solidFill>
                  <a:srgbClr val="555555"/>
                </a:solidFill>
                <a:latin typeface="Microsoft JhengHei"/>
              </a:rPr>
              <a:t>• 全文含「車禍／交通事故」   • 慰撫金金額在 1 萬 ~ 1,000 萬（剔除離群值）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crosoft JhengHei"/>
              </a:rPr>
              <a:t>🧹 為什麼最後只用 7,050 筆？(資料清洗)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465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Microsoft JhengHei"/>
              </a:rPr>
              <a:t>車禍精神慰撫金 AI 預測系統 ｜ 資料科學期末專題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  <a:latin typeface="Microsoft JhengHei"/>
              </a:rPr>
              <a:t>5 / 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097280"/>
            <a:ext cx="3291840" cy="1371600"/>
          </a:xfrm>
          <a:prstGeom prst="roundRect">
            <a:avLst/>
          </a:prstGeom>
          <a:solidFill>
            <a:srgbClr val="FCE4EC"/>
          </a:solidFill>
          <a:ln w="1905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23444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555555"/>
                </a:solidFill>
                <a:latin typeface="Microsoft JhengHei"/>
              </a:rPr>
              <a:t>原始擷取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645920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C0392B"/>
                </a:solidFill>
                <a:latin typeface="Microsoft JhengHei"/>
              </a:rPr>
              <a:t>7,536 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23360" y="146304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>
                <a:solidFill>
                  <a:srgbClr val="555555"/>
                </a:solidFill>
                <a:latin typeface="Microsoft JhengHei"/>
              </a:rPr>
              <a:t>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49039" y="205740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8C00"/>
                </a:solidFill>
                <a:latin typeface="Microsoft JhengHei"/>
              </a:rPr>
              <a:t>刪 486 筆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0" y="1097280"/>
            <a:ext cx="3291840" cy="1371600"/>
          </a:xfrm>
          <a:prstGeom prst="round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0" y="123444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555555"/>
                </a:solidFill>
                <a:latin typeface="Microsoft JhengHei"/>
              </a:rPr>
              <a:t>清洗中⋯⋯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0" y="1645920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>
                <a:solidFill>
                  <a:srgbClr val="1F3A5F"/>
                </a:solidFill>
                <a:latin typeface="Microsoft JhengHei"/>
              </a:rPr>
              <a:t>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146304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>
                <a:solidFill>
                  <a:srgbClr val="555555"/>
                </a:solidFill>
                <a:latin typeface="Microsoft JhengHei"/>
              </a:rPr>
              <a:t>➡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52560" y="1097280"/>
            <a:ext cx="2560320" cy="1371600"/>
          </a:xfrm>
          <a:prstGeom prst="roundRect">
            <a:avLst/>
          </a:prstGeom>
          <a:solidFill>
            <a:srgbClr val="E8F5E9"/>
          </a:solidFill>
          <a:ln w="19050">
            <a:solidFill>
              <a:srgbClr val="2E8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52560" y="12344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555555"/>
                </a:solidFill>
                <a:latin typeface="Microsoft JhengHei"/>
              </a:rPr>
              <a:t>訓練資料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0" y="164592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2E8B57"/>
                </a:solidFill>
                <a:latin typeface="Microsoft JhengHei"/>
              </a:rPr>
              <a:t>7,050 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2606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B57"/>
                </a:solidFill>
                <a:latin typeface="Microsoft JhengHei"/>
              </a:rPr>
              <a:t>✅ 保留率 93.5%（資料品質提升，模型才會準）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32004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F3A5F"/>
                </a:solidFill>
                <a:latin typeface="Microsoft JhengHei"/>
              </a:rPr>
              <a:t>🗑️ 哪些資料被刷掉了？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3703320"/>
            <a:ext cx="10972800" cy="548640"/>
          </a:xfrm>
          <a:prstGeom prst="roundRect">
            <a:avLst/>
          </a:prstGeom>
          <a:solidFill>
            <a:srgbClr val="F4F6F9"/>
          </a:solidFill>
          <a:ln w="1905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37947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1F3A5F"/>
                </a:solidFill>
                <a:latin typeface="Microsoft JhengHei"/>
              </a:rPr>
              <a:t>1️⃣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80160" y="382219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0392B"/>
                </a:solidFill>
                <a:latin typeface="Microsoft JhengHei"/>
              </a:rPr>
              <a:t>慰撫金欄位缺失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384048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  <a:latin typeface="Microsoft JhengHei"/>
              </a:rPr>
              <a:t>判決書中根本沒寫慰撫金金額 → 沒有 Y 就無法訓練 AI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4325112"/>
            <a:ext cx="10972800" cy="548640"/>
          </a:xfrm>
          <a:prstGeom prst="roundRect">
            <a:avLst/>
          </a:prstGeom>
          <a:solidFill>
            <a:srgbClr val="F4F6F9"/>
          </a:solidFill>
          <a:ln w="19050">
            <a:solidFill>
              <a:srgbClr val="FF8C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441655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1F3A5F"/>
                </a:solidFill>
                <a:latin typeface="Microsoft JhengHei"/>
              </a:rPr>
              <a:t>2️⃣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80160" y="4443984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8C00"/>
                </a:solidFill>
                <a:latin typeface="Microsoft JhengHei"/>
              </a:rPr>
              <a:t>金額過低 (&lt; 1 萬)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4462272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  <a:latin typeface="Microsoft JhengHei"/>
              </a:rPr>
              <a:t>可能是正則擷取錯誤（例如把「112 年」抓成 112 元）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" y="4946904"/>
            <a:ext cx="10972800" cy="548640"/>
          </a:xfrm>
          <a:prstGeom prst="roundRect">
            <a:avLst/>
          </a:prstGeom>
          <a:solidFill>
            <a:srgbClr val="F4F6F9"/>
          </a:solidFill>
          <a:ln w="19050">
            <a:solidFill>
              <a:srgbClr val="FF8C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7240" y="5038344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1F3A5F"/>
                </a:solidFill>
                <a:latin typeface="Microsoft JhengHei"/>
              </a:rPr>
              <a:t>3️⃣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80160" y="5065776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8C00"/>
                </a:solidFill>
                <a:latin typeface="Microsoft JhengHei"/>
              </a:rPr>
              <a:t>金額過高 (&gt; 1,000 萬)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0" y="5084064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  <a:latin typeface="Microsoft JhengHei"/>
              </a:rPr>
              <a:t>可能誤抓到訴訟費或請求總額（不是法官實際判賠的）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0080" y="5568696"/>
            <a:ext cx="10972800" cy="548640"/>
          </a:xfrm>
          <a:prstGeom prst="roundRect">
            <a:avLst/>
          </a:prstGeom>
          <a:solidFill>
            <a:srgbClr val="F4F6F9"/>
          </a:solidFill>
          <a:ln w="19050">
            <a:solidFill>
              <a:srgbClr val="FF8C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77240" y="5660136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1F3A5F"/>
                </a:solidFill>
                <a:latin typeface="Microsoft JhengHei"/>
              </a:rPr>
              <a:t>4️⃣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568756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8C00"/>
                </a:solidFill>
                <a:latin typeface="Microsoft JhengHei"/>
              </a:rPr>
              <a:t>其他費用 &gt; 5,000 萬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0" y="5705856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  <a:latin typeface="Microsoft JhengHei"/>
              </a:rPr>
              <a:t>醫療費／看護費／工作損失明顯離譜的擷取錯誤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40080" y="6263640"/>
            <a:ext cx="10972800" cy="411480"/>
          </a:xfrm>
          <a:prstGeom prst="roundRect">
            <a:avLst/>
          </a:prstGeom>
          <a:solidFill>
            <a:srgbClr val="FFF8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" y="6309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F3A5F"/>
                </a:solidFill>
                <a:latin typeface="Microsoft JhengHei"/>
              </a:rPr>
              <a:t>💡 資料科學金句：「Garbage in, garbage out」── 模型品質 = 訓練資料品質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crosoft JhengHei"/>
              </a:rPr>
              <a:t>📋 每一筆資料代表什麼？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465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Microsoft JhengHei"/>
              </a:rPr>
              <a:t>車禍精神慰撫金 AI 預測系統 ｜ 資料科學期末專題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  <a:latin typeface="Microsoft JhengHei"/>
              </a:rPr>
              <a:t>6 /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0972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555555"/>
                </a:solidFill>
                <a:latin typeface="Microsoft JhengHei"/>
              </a:rPr>
              <a:t>每一列 = 一份車禍判決，欄位的意思：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737360"/>
            <a:ext cx="5486400" cy="502920"/>
          </a:xfrm>
          <a:prstGeom prst="round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810512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68C9"/>
                </a:solidFill>
                <a:latin typeface="Microsoft JhengHei"/>
              </a:rPr>
              <a:t>Injury_Level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14599" y="1810512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F3A5F"/>
                </a:solidFill>
                <a:latin typeface="Microsoft JhengHei"/>
              </a:rPr>
              <a:t>傷亡程度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49040" y="18288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Microsoft JhengHei"/>
              </a:rPr>
              <a:t>1=傷害 2=重傷 3=死亡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1737360"/>
            <a:ext cx="5486400" cy="502920"/>
          </a:xfrm>
          <a:prstGeom prst="round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1810512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68C9"/>
                </a:solidFill>
                <a:latin typeface="Microsoft JhengHei"/>
              </a:rPr>
              <a:t>Medical_Fee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83879" y="1810512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F3A5F"/>
                </a:solidFill>
                <a:latin typeface="Microsoft JhengHei"/>
              </a:rPr>
              <a:t>醫療費 (元)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18320" y="18288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Microsoft JhengHei"/>
              </a:rPr>
              <a:t>受傷花的醫藥費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2313432"/>
            <a:ext cx="5486400" cy="502920"/>
          </a:xfrm>
          <a:prstGeom prst="round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2386584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68C9"/>
                </a:solidFill>
                <a:latin typeface="Microsoft JhengHei"/>
              </a:rPr>
              <a:t>Care_Fee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14599" y="2386584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F3A5F"/>
                </a:solidFill>
                <a:latin typeface="Microsoft JhengHei"/>
              </a:rPr>
              <a:t>看護費 (元)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49040" y="2404872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Microsoft JhengHei"/>
              </a:rPr>
              <a:t>需要人照顧的費用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09360" y="2313432"/>
            <a:ext cx="5486400" cy="502920"/>
          </a:xfrm>
          <a:prstGeom prst="round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2386584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68C9"/>
                </a:solidFill>
                <a:latin typeface="Microsoft JhengHei"/>
              </a:rPr>
              <a:t>Work_Loss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83879" y="2386584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F3A5F"/>
                </a:solidFill>
                <a:latin typeface="Microsoft JhengHei"/>
              </a:rPr>
              <a:t>工作損失 (元)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18320" y="2404872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Microsoft JhengHei"/>
              </a:rPr>
              <a:t>因傷沒上班的薪資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2889504"/>
            <a:ext cx="5486400" cy="502920"/>
          </a:xfrm>
          <a:prstGeom prst="round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2962656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8C00"/>
                </a:solidFill>
                <a:latin typeface="Microsoft JhengHei"/>
              </a:rPr>
              <a:t>Drunk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514599" y="2962656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F3A5F"/>
                </a:solidFill>
                <a:latin typeface="Microsoft JhengHei"/>
              </a:rPr>
              <a:t>是否酒駕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749040" y="2980944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Microsoft JhengHei"/>
              </a:rPr>
              <a:t>0=否 1=是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309360" y="2889504"/>
            <a:ext cx="5486400" cy="502920"/>
          </a:xfrm>
          <a:prstGeom prst="round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46520" y="2962656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8C00"/>
                </a:solidFill>
                <a:latin typeface="Microsoft JhengHei"/>
              </a:rPr>
              <a:t>Fault_Ratio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83879" y="2962656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F3A5F"/>
                </a:solidFill>
                <a:latin typeface="Microsoft JhengHei"/>
              </a:rPr>
              <a:t>原告過失 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18320" y="2980944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Microsoft JhengHei"/>
              </a:rPr>
              <a:t>受害人自己也有錯的比例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0080" y="3465576"/>
            <a:ext cx="5486400" cy="502920"/>
          </a:xfrm>
          <a:prstGeom prst="round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77240" y="3538728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555555"/>
                </a:solidFill>
                <a:latin typeface="Microsoft JhengHei"/>
              </a:rPr>
              <a:t>Court_XXX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514599" y="353872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F3A5F"/>
                </a:solidFill>
                <a:latin typeface="Microsoft JhengHei"/>
              </a:rPr>
              <a:t>法院別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749040" y="3557016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Microsoft JhengHei"/>
              </a:rPr>
              <a:t>看哪一個法院判的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309360" y="3465576"/>
            <a:ext cx="5486400" cy="502920"/>
          </a:xfrm>
          <a:prstGeom prst="round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46520" y="3538728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0392B"/>
                </a:solidFill>
                <a:latin typeface="Microsoft JhengHei"/>
              </a:rPr>
              <a:t>Mental_Damage 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183879" y="353872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F3A5F"/>
                </a:solidFill>
                <a:latin typeface="Microsoft JhengHei"/>
              </a:rPr>
              <a:t>精神慰撫金 (元)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418320" y="3557016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Microsoft JhengHei"/>
              </a:rPr>
              <a:t>👉 這就是我們要預測的目標！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40080" y="5760720"/>
            <a:ext cx="10972800" cy="548640"/>
          </a:xfrm>
          <a:prstGeom prst="roundRect">
            <a:avLst/>
          </a:prstGeom>
          <a:solidFill>
            <a:srgbClr val="FFEB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22960" y="585216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C0392B"/>
                </a:solidFill>
                <a:latin typeface="Microsoft JhengHei"/>
              </a:rPr>
              <a:t>💡 AI 的任務：看左邊那些欄位（X），猜出 Mental_Damage（Y）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crosoft JhengHei"/>
              </a:rPr>
              <a:t>🔧 資料怎麼整理？(前處理)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465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Microsoft JhengHei"/>
              </a:rPr>
              <a:t>車禍精神慰撫金 AI 預測系統 ｜ 資料科學期末專題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  <a:latin typeface="Microsoft JhengHei"/>
              </a:rPr>
              <a:t>7 / 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188720"/>
            <a:ext cx="10972800" cy="868680"/>
          </a:xfrm>
          <a:prstGeom prst="roundRect">
            <a:avLst/>
          </a:prstGeom>
          <a:solidFill>
            <a:srgbClr val="F4F6F9"/>
          </a:solidFill>
          <a:ln w="19050">
            <a:solidFill>
              <a:srgbClr val="0068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37160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1F3A5F"/>
                </a:solidFill>
                <a:latin typeface="Microsoft JhengHei"/>
              </a:rPr>
              <a:t>1️⃣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1298448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068C9"/>
                </a:solidFill>
                <a:latin typeface="Microsoft JhengHei"/>
              </a:rPr>
              <a:t>缺失值處理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16459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55555"/>
                </a:solidFill>
                <a:latin typeface="Microsoft JhengHei"/>
              </a:rPr>
              <a:t>醫療費／看護費沒寫 → 補 0（沒請求就是 0 元）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148840"/>
            <a:ext cx="10972800" cy="868680"/>
          </a:xfrm>
          <a:prstGeom prst="roundRect">
            <a:avLst/>
          </a:prstGeom>
          <a:solidFill>
            <a:srgbClr val="F4F6F9"/>
          </a:solidFill>
          <a:ln w="19050">
            <a:solidFill>
              <a:srgbClr val="FF8C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33172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1F3A5F"/>
                </a:solidFill>
                <a:latin typeface="Microsoft JhengHei"/>
              </a:rPr>
              <a:t>2️⃣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2258568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8C00"/>
                </a:solidFill>
                <a:latin typeface="Microsoft JhengHei"/>
              </a:rPr>
              <a:t>去除離群值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26060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55555"/>
                </a:solidFill>
                <a:latin typeface="Microsoft JhengHei"/>
              </a:rPr>
              <a:t>慰撫金 &lt; 1萬 或 &gt; 1000萬 的整筆刪除（避免怪資料汙染）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108960"/>
            <a:ext cx="10972800" cy="868680"/>
          </a:xfrm>
          <a:prstGeom prst="roundRect">
            <a:avLst/>
          </a:prstGeom>
          <a:solidFill>
            <a:srgbClr val="F4F6F9"/>
          </a:solidFill>
          <a:ln w="19050">
            <a:solidFill>
              <a:srgbClr val="2E8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329184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1F3A5F"/>
                </a:solidFill>
                <a:latin typeface="Microsoft JhengHei"/>
              </a:rPr>
              <a:t>3️⃣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3218688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E8B57"/>
                </a:solidFill>
                <a:latin typeface="Microsoft JhengHei"/>
              </a:rPr>
              <a:t>對數轉換 Log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63040" y="35661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55555"/>
                </a:solidFill>
                <a:latin typeface="Microsoft JhengHei"/>
              </a:rPr>
              <a:t>金額差異大（幾萬~幾百萬），取 Log 讓數字「壓扁」一點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4069080"/>
            <a:ext cx="10972800" cy="868680"/>
          </a:xfrm>
          <a:prstGeom prst="roundRect">
            <a:avLst/>
          </a:prstGeom>
          <a:solidFill>
            <a:srgbClr val="F4F6F9"/>
          </a:solidFill>
          <a:ln w="19050">
            <a:solidFill>
              <a:srgbClr val="0068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425196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1F3A5F"/>
                </a:solidFill>
                <a:latin typeface="Microsoft JhengHei"/>
              </a:rPr>
              <a:t>4️⃣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63040" y="4178808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068C9"/>
                </a:solidFill>
                <a:latin typeface="Microsoft JhengHei"/>
              </a:rPr>
              <a:t>傷亡編碼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63040" y="45262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55555"/>
                </a:solidFill>
                <a:latin typeface="Microsoft JhengHei"/>
              </a:rPr>
              <a:t>「傷害／重傷／死亡」→ 1／2／3（電腦只認數字）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5029200"/>
            <a:ext cx="10972800" cy="868680"/>
          </a:xfrm>
          <a:prstGeom prst="roundRect">
            <a:avLst/>
          </a:prstGeom>
          <a:solidFill>
            <a:srgbClr val="F4F6F9"/>
          </a:solidFill>
          <a:ln w="19050">
            <a:solidFill>
              <a:srgbClr val="FF8C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521208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1F3A5F"/>
                </a:solidFill>
                <a:latin typeface="Microsoft JhengHei"/>
              </a:rPr>
              <a:t>5️⃣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63040" y="5138928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8C00"/>
                </a:solidFill>
                <a:latin typeface="Microsoft JhengHei"/>
              </a:rPr>
              <a:t>法院 One-Hot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63040" y="54864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55555"/>
                </a:solidFill>
                <a:latin typeface="Microsoft JhengHei"/>
              </a:rPr>
              <a:t>70+ 個法院 → 變成 70+ 個 0/1 欄位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crosoft JhengHei"/>
              </a:rPr>
              <a:t>🌲 用什麼 AI 模型？Random Forest（隨機森林）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465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Microsoft JhengHei"/>
              </a:rPr>
              <a:t>車禍精神慰撫金 AI 預測系統 ｜ 資料科學期末專題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  <a:latin typeface="Microsoft JhengHei"/>
              </a:rPr>
              <a:t>8 / 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097280"/>
            <a:ext cx="10972800" cy="1371600"/>
          </a:xfrm>
          <a:prstGeom prst="round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18872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F3A5F"/>
                </a:solidFill>
                <a:latin typeface="Microsoft JhengHei"/>
              </a:rPr>
              <a:t>🐒 猴子版解釋：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6002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55555"/>
                </a:solidFill>
                <a:latin typeface="Microsoft JhengHei"/>
              </a:rPr>
              <a:t>問 100 個專家（決策樹），每個專家給出自己的答案 → 取平均當最終答案。</a:t>
            </a:r>
          </a:p>
          <a:p>
            <a:pPr algn="l"/>
            <a:r>
              <a:rPr sz="1400" b="0">
                <a:solidFill>
                  <a:srgbClr val="555555"/>
                </a:solidFill>
                <a:latin typeface="Microsoft JhengHei"/>
              </a:rPr>
              <a:t>為什麼比一個專家好？因為「眾人智慧」會抵銷個別專家的偏見和錯誤。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6974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F3A5F"/>
                </a:solidFill>
                <a:latin typeface="Microsoft JhengHei"/>
              </a:rPr>
              <a:t>為什麼選 Random Forest？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291840"/>
            <a:ext cx="10972800" cy="594360"/>
          </a:xfrm>
          <a:prstGeom prst="round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3410712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2E8B57"/>
                </a:solidFill>
                <a:latin typeface="Microsoft JhengHei"/>
              </a:rPr>
              <a:t>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34290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F3A5F"/>
                </a:solidFill>
                <a:latin typeface="Microsoft JhengHei"/>
              </a:rPr>
              <a:t>處理表格資料超強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0" y="3447288"/>
            <a:ext cx="7040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55555"/>
                </a:solidFill>
                <a:latin typeface="Microsoft JhengHei"/>
              </a:rPr>
              <a:t>我們的資料就是 Excel 一樣的表格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977640"/>
            <a:ext cx="10972800" cy="594360"/>
          </a:xfrm>
          <a:prstGeom prst="round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4096512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2E8B57"/>
                </a:solidFill>
                <a:latin typeface="Microsoft JhengHei"/>
              </a:rPr>
              <a:t>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41148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F3A5F"/>
                </a:solidFill>
                <a:latin typeface="Microsoft JhengHei"/>
              </a:rPr>
              <a:t>不怕特徵單位不同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4133088"/>
            <a:ext cx="7040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55555"/>
                </a:solidFill>
                <a:latin typeface="Microsoft JhengHei"/>
              </a:rPr>
              <a:t>金額（百萬）和過失比例（%）混在一起也沒事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4663440"/>
            <a:ext cx="10972800" cy="594360"/>
          </a:xfrm>
          <a:prstGeom prst="round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4782312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2E8B57"/>
                </a:solidFill>
                <a:latin typeface="Microsoft JhengHei"/>
              </a:rPr>
              <a:t>✔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88720" y="48006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F3A5F"/>
                </a:solidFill>
                <a:latin typeface="Microsoft JhengHei"/>
              </a:rPr>
              <a:t>可看出特徵重要性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80560" y="4818888"/>
            <a:ext cx="7040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55555"/>
                </a:solidFill>
                <a:latin typeface="Microsoft JhengHei"/>
              </a:rPr>
              <a:t>可以告訴你「哪個欄位最影響判決」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5349240"/>
            <a:ext cx="10972800" cy="594360"/>
          </a:xfrm>
          <a:prstGeom prst="round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5468112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2E8B57"/>
                </a:solidFill>
                <a:latin typeface="Microsoft JhengHei"/>
              </a:rPr>
              <a:t>✔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88720" y="54864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F3A5F"/>
                </a:solidFill>
                <a:latin typeface="Microsoft JhengHei"/>
              </a:rPr>
              <a:t>不容易過擬合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80560" y="5504688"/>
            <a:ext cx="7040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55555"/>
                </a:solidFill>
                <a:latin typeface="Microsoft JhengHei"/>
              </a:rPr>
              <a:t>比單一決策樹穩定，準度也比較高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crosoft JhengHei"/>
              </a:rPr>
              <a:t>🏋️ AI 怎麼學會的？(訓練流程)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465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Microsoft JhengHei"/>
              </a:rPr>
              <a:t>車禍精神慰撫金 AI 預測系統 ｜ 資料科學期末專題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  <a:latin typeface="Microsoft JhengHei"/>
              </a:rPr>
              <a:t>9 / 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80847" y="1371600"/>
            <a:ext cx="2103120" cy="1463040"/>
          </a:xfrm>
          <a:prstGeom prst="roundRect">
            <a:avLst/>
          </a:prstGeom>
          <a:solidFill>
            <a:srgbClr val="F4F6F9"/>
          </a:solidFill>
          <a:ln w="1905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0847" y="1554480"/>
            <a:ext cx="21031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F3A5F"/>
                </a:solidFill>
                <a:latin typeface="Microsoft JhengHei"/>
              </a:rPr>
              <a:t>📊</a:t>
            </a:r>
          </a:p>
          <a:p>
            <a:pPr algn="ctr"/>
            <a:r>
              <a:rPr sz="1600" b="1">
                <a:solidFill>
                  <a:srgbClr val="1F3A5F"/>
                </a:solidFill>
                <a:latin typeface="Microsoft JhengHei"/>
              </a:rPr>
              <a:t>7,050 筆</a:t>
            </a:r>
          </a:p>
          <a:p>
            <a:pPr algn="ctr"/>
            <a:r>
              <a:rPr sz="1600" b="1">
                <a:solidFill>
                  <a:srgbClr val="1F3A5F"/>
                </a:solidFill>
                <a:latin typeface="Microsoft JhengHei"/>
              </a:rPr>
              <a:t>資料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38247" y="1920240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555555"/>
                </a:solidFill>
                <a:latin typeface="Microsoft JhengHei"/>
              </a:rPr>
              <a:t>➡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12567" y="1371600"/>
            <a:ext cx="2103120" cy="1463040"/>
          </a:xfrm>
          <a:prstGeom prst="roundRect">
            <a:avLst/>
          </a:prstGeom>
          <a:solidFill>
            <a:srgbClr val="E8F0FE"/>
          </a:solidFill>
          <a:ln w="19050">
            <a:solidFill>
              <a:srgbClr val="0068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12567" y="1554480"/>
            <a:ext cx="21031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068C9"/>
                </a:solidFill>
                <a:latin typeface="Microsoft JhengHei"/>
              </a:rPr>
              <a:t>✂️</a:t>
            </a:r>
          </a:p>
          <a:p>
            <a:pPr algn="ctr"/>
            <a:r>
              <a:rPr sz="1600" b="1">
                <a:solidFill>
                  <a:srgbClr val="0068C9"/>
                </a:solidFill>
                <a:latin typeface="Microsoft JhengHei"/>
              </a:rPr>
              <a:t>切 8:2</a:t>
            </a:r>
          </a:p>
          <a:p>
            <a:pPr algn="ctr"/>
            <a:r>
              <a:rPr sz="1600" b="1">
                <a:solidFill>
                  <a:srgbClr val="0068C9"/>
                </a:solidFill>
                <a:latin typeface="Microsoft JhengHei"/>
              </a:rPr>
              <a:t>訓練／測試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69967" y="1920240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555555"/>
                </a:solidFill>
                <a:latin typeface="Microsoft JhengHei"/>
              </a:rPr>
              <a:t>➡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44287" y="1371600"/>
            <a:ext cx="2103120" cy="1463040"/>
          </a:xfrm>
          <a:prstGeom prst="roundRect">
            <a:avLst/>
          </a:prstGeom>
          <a:solidFill>
            <a:srgbClr val="E8F5E9"/>
          </a:solidFill>
          <a:ln w="19050">
            <a:solidFill>
              <a:srgbClr val="2E8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44287" y="1554480"/>
            <a:ext cx="21031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B57"/>
                </a:solidFill>
                <a:latin typeface="Microsoft JhengHei"/>
              </a:rPr>
              <a:t>🌲</a:t>
            </a:r>
          </a:p>
          <a:p>
            <a:pPr algn="ctr"/>
            <a:r>
              <a:rPr sz="1600" b="1">
                <a:solidFill>
                  <a:srgbClr val="2E8B57"/>
                </a:solidFill>
                <a:latin typeface="Microsoft JhengHei"/>
              </a:rPr>
              <a:t>訓練</a:t>
            </a:r>
          </a:p>
          <a:p>
            <a:pPr algn="ctr"/>
            <a:r>
              <a:rPr sz="1600" b="1">
                <a:solidFill>
                  <a:srgbClr val="2E8B57"/>
                </a:solidFill>
                <a:latin typeface="Microsoft JhengHei"/>
              </a:rPr>
              <a:t>Random Forest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01687" y="1920240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555555"/>
                </a:solidFill>
                <a:latin typeface="Microsoft JhengHei"/>
              </a:rPr>
              <a:t>➡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76007" y="1371600"/>
            <a:ext cx="2103120" cy="1463040"/>
          </a:xfrm>
          <a:prstGeom prst="roundRect">
            <a:avLst/>
          </a:prstGeom>
          <a:solidFill>
            <a:srgbClr val="FFF3E0"/>
          </a:solidFill>
          <a:ln w="19050">
            <a:solidFill>
              <a:srgbClr val="FF8C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76007" y="1554480"/>
            <a:ext cx="21031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8C00"/>
                </a:solidFill>
                <a:latin typeface="Microsoft JhengHei"/>
              </a:rPr>
              <a:t>📝</a:t>
            </a:r>
          </a:p>
          <a:p>
            <a:pPr algn="ctr"/>
            <a:r>
              <a:rPr sz="1600" b="1">
                <a:solidFill>
                  <a:srgbClr val="FF8C00"/>
                </a:solidFill>
                <a:latin typeface="Microsoft JhengHei"/>
              </a:rPr>
              <a:t>用測試集</a:t>
            </a:r>
          </a:p>
          <a:p>
            <a:pPr algn="ctr"/>
            <a:r>
              <a:rPr sz="1600" b="1">
                <a:solidFill>
                  <a:srgbClr val="FF8C00"/>
                </a:solidFill>
                <a:latin typeface="Microsoft JhengHei"/>
              </a:rPr>
              <a:t>打分數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33407" y="1920240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555555"/>
                </a:solidFill>
                <a:latin typeface="Microsoft JhengHei"/>
              </a:rPr>
              <a:t>➡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707727" y="1371600"/>
            <a:ext cx="2103120" cy="1463040"/>
          </a:xfrm>
          <a:prstGeom prst="roundRect">
            <a:avLst/>
          </a:prstGeom>
          <a:solidFill>
            <a:srgbClr val="FCE4EC"/>
          </a:solidFill>
          <a:ln w="1905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707727" y="1554480"/>
            <a:ext cx="21031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C0392B"/>
                </a:solidFill>
                <a:latin typeface="Microsoft JhengHei"/>
              </a:rPr>
              <a:t>💾</a:t>
            </a:r>
          </a:p>
          <a:p>
            <a:pPr algn="ctr"/>
            <a:r>
              <a:rPr sz="1600" b="1">
                <a:solidFill>
                  <a:srgbClr val="C0392B"/>
                </a:solidFill>
                <a:latin typeface="Microsoft JhengHei"/>
              </a:rPr>
              <a:t>存模型</a:t>
            </a:r>
          </a:p>
          <a:p>
            <a:pPr algn="ctr"/>
            <a:r>
              <a:rPr sz="1600" b="1">
                <a:solidFill>
                  <a:srgbClr val="C0392B"/>
                </a:solidFill>
                <a:latin typeface="Microsoft JhengHei"/>
              </a:rPr>
              <a:t>rf_model.pkl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3200400"/>
            <a:ext cx="10972800" cy="3017520"/>
          </a:xfrm>
          <a:prstGeom prst="round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329184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F3A5F"/>
                </a:solidFill>
                <a:latin typeface="Microsoft JhengHei"/>
              </a:rPr>
              <a:t>🔍 訓練細節（給老師看）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3794760"/>
            <a:ext cx="106984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3A5F"/>
                </a:solidFill>
                <a:latin typeface="Microsoft JhengHei"/>
              </a:rPr>
              <a:t>• 切資料：80% (5,640 筆) 訓練  +  20% (1,410 筆) 測試</a:t>
            </a:r>
          </a:p>
          <a:p>
            <a:pPr algn="l"/>
            <a:r>
              <a:rPr sz="1400" b="0">
                <a:solidFill>
                  <a:srgbClr val="1F3A5F"/>
                </a:solidFill>
                <a:latin typeface="Microsoft JhengHei"/>
              </a:rPr>
              <a:t>• 隨機種子 random_state=42（保證每次跑結果一樣）</a:t>
            </a:r>
          </a:p>
          <a:p>
            <a:pPr algn="l"/>
            <a:r>
              <a:rPr sz="1400" b="0">
                <a:solidFill>
                  <a:srgbClr val="1F3A5F"/>
                </a:solidFill>
                <a:latin typeface="Microsoft JhengHei"/>
              </a:rPr>
              <a:t>• 超參數：100 棵樹、最大深度 10、葉節點最少 5 筆（防止過擬合）</a:t>
            </a:r>
          </a:p>
          <a:p>
            <a:pPr algn="l"/>
            <a:r>
              <a:rPr sz="1400" b="0">
                <a:solidFill>
                  <a:srgbClr val="1F3A5F"/>
                </a:solidFill>
                <a:latin typeface="Microsoft JhengHei"/>
              </a:rPr>
              <a:t>• 預測目標：log(慰撫金)，預測完再用 exp 轉回原始金額</a:t>
            </a:r>
          </a:p>
          <a:p>
            <a:pPr algn="l"/>
            <a:r>
              <a:rPr sz="1400" b="0">
                <a:solidFill>
                  <a:srgbClr val="1F3A5F"/>
                </a:solidFill>
                <a:latin typeface="Microsoft JhengHei"/>
              </a:rPr>
              <a:t>• 評估指標：MAE（平均誤差幾元）+ R²（解釋變異量）</a:t>
            </a:r>
          </a:p>
          <a:p>
            <a:pPr algn="l"/>
            <a:r>
              <a:rPr sz="1400" b="0">
                <a:solidFill>
                  <a:srgbClr val="1F3A5F"/>
                </a:solidFill>
                <a:latin typeface="Microsoft JhengHei"/>
              </a:rPr>
              <a:t>• 比較基準：Null Model（不管什麼案件都猜訓練集平均值）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crosoft JhengHei"/>
              </a:rPr>
              <a:t>🏆 AI 學得怎麼樣？(模型成績)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465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Microsoft JhengHei"/>
              </a:rPr>
              <a:t>車禍精神慰撫金 AI 預測系統 ｜ 資料科學期末專題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  <a:latin typeface="Microsoft JhengHei"/>
              </a:rPr>
              <a:t>10 / 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188720"/>
            <a:ext cx="5303520" cy="2286000"/>
          </a:xfrm>
          <a:prstGeom prst="roundRect">
            <a:avLst/>
          </a:prstGeom>
          <a:solidFill>
            <a:srgbClr val="FCE4EC"/>
          </a:solidFill>
          <a:ln w="1905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32588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C0392B"/>
                </a:solidFill>
                <a:latin typeface="Microsoft JhengHei"/>
              </a:rPr>
              <a:t>❌ Null Model（盲猜）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78308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  <a:latin typeface="Microsoft JhengHei"/>
              </a:rPr>
              <a:t>不管什麼案件，一律猜平均值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286000"/>
            <a:ext cx="4937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C0392B"/>
                </a:solidFill>
                <a:latin typeface="Microsoft JhengHei"/>
              </a:rPr>
              <a:t>MAE = 494,720 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92608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555555"/>
                </a:solidFill>
                <a:latin typeface="Microsoft JhengHei"/>
              </a:rPr>
              <a:t>（平均每筆判錯約 49 萬）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188720"/>
            <a:ext cx="5303520" cy="2286000"/>
          </a:xfrm>
          <a:prstGeom prst="roundRect">
            <a:avLst/>
          </a:prstGeom>
          <a:solidFill>
            <a:srgbClr val="E8F5E9"/>
          </a:solidFill>
          <a:ln w="19050">
            <a:solidFill>
              <a:srgbClr val="2E8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132588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E8B57"/>
                </a:solidFill>
                <a:latin typeface="Microsoft JhengHei"/>
              </a:rPr>
              <a:t>✅ Random Forest（我們的 AI）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178308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  <a:latin typeface="Microsoft JhengHei"/>
              </a:rPr>
              <a:t>看過所有特徵後給出聰明答案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2286000"/>
            <a:ext cx="4937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2E8B57"/>
                </a:solidFill>
                <a:latin typeface="Microsoft JhengHei"/>
              </a:rPr>
              <a:t>MAE = 304,969 元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292608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555555"/>
                </a:solidFill>
                <a:latin typeface="Microsoft JhengHei"/>
              </a:rPr>
              <a:t>（平均每筆判錯約 30 萬）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657600"/>
            <a:ext cx="10972800" cy="1188720"/>
          </a:xfrm>
          <a:prstGeom prst="roundRect">
            <a:avLst/>
          </a:prstGeom>
          <a:solidFill>
            <a:srgbClr val="FFF3E0"/>
          </a:solidFill>
          <a:ln w="19050">
            <a:solidFill>
              <a:srgbClr val="FF8C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3749039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8C00"/>
                </a:solidFill>
                <a:latin typeface="Microsoft JhengHei"/>
              </a:rPr>
              <a:t>🎉 進步 38.4%！R² = 0.4618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44348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555555"/>
                </a:solidFill>
                <a:latin typeface="Microsoft JhengHei"/>
              </a:rPr>
              <a:t>AI 比「盲猜」聰明很多，能解釋約 46% 的判決變異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5029200"/>
            <a:ext cx="10972800" cy="1188720"/>
          </a:xfrm>
          <a:prstGeom prst="round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51206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F3A5F"/>
                </a:solidFill>
                <a:latin typeface="Microsoft JhengHei"/>
              </a:rPr>
              <a:t>🤔 為什麼 MAE 還有 30 萬？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54864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55555"/>
                </a:solidFill>
                <a:latin typeface="Microsoft JhengHei"/>
              </a:rPr>
              <a:t>因為精神慰撫金本來就有「法官個人心證」成分，無法 100% 預測。</a:t>
            </a:r>
          </a:p>
          <a:p>
            <a:pPr algn="l"/>
            <a:r>
              <a:rPr sz="1300" b="0">
                <a:solidFill>
                  <a:srgbClr val="555555"/>
                </a:solidFill>
                <a:latin typeface="Microsoft JhengHei"/>
              </a:rPr>
              <a:t>但比起「完全不知道大概多少」，30 萬的誤差已能提供合理參考區間。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crosoft JhengHei"/>
              </a:rPr>
              <a:t>🔑 哪些因素最影響判決？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465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Microsoft JhengHei"/>
              </a:rPr>
              <a:t>車禍精神慰撫金 AI 預測系統 ｜ 資料科學期末專題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  <a:latin typeface="Microsoft JhengHei"/>
              </a:rPr>
              <a:t>11 /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0972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555555"/>
                </a:solidFill>
                <a:latin typeface="Microsoft JhengHei"/>
              </a:rPr>
              <a:t>AI 自己找出來的 Top 3 關鍵因素：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1168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>
                <a:solidFill>
                  <a:srgbClr val="1F3A5F"/>
                </a:solidFill>
                <a:latin typeface="Microsoft JhengHei"/>
              </a:rPr>
              <a:t>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1828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F3A5F"/>
                </a:solidFill>
                <a:latin typeface="Microsoft JhengHei"/>
              </a:rPr>
              <a:t>看護費 Care_Fee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463040" y="2240280"/>
            <a:ext cx="8229600" cy="411480"/>
          </a:xfrm>
          <a:prstGeom prst="round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463040" y="2240280"/>
            <a:ext cx="6419088" cy="411480"/>
          </a:xfrm>
          <a:prstGeom prst="round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75520" y="224028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2E8B57"/>
                </a:solidFill>
                <a:latin typeface="Microsoft JhengHei"/>
              </a:rPr>
              <a:t>39%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06324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>
                <a:solidFill>
                  <a:srgbClr val="1F3A5F"/>
                </a:solidFill>
                <a:latin typeface="Microsoft JhengHei"/>
              </a:rPr>
              <a:t>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28803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F3A5F"/>
                </a:solidFill>
                <a:latin typeface="Microsoft JhengHei"/>
              </a:rPr>
              <a:t>傷亡程度 Injury_Level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463040" y="3291840"/>
            <a:ext cx="8229600" cy="411480"/>
          </a:xfrm>
          <a:prstGeom prst="round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463040" y="3291840"/>
            <a:ext cx="4773168" cy="411480"/>
          </a:xfrm>
          <a:prstGeom prst="roundRect">
            <a:avLst/>
          </a:prstGeom>
          <a:solidFill>
            <a:srgbClr val="0068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875520" y="329184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068C9"/>
                </a:solidFill>
                <a:latin typeface="Microsoft JhengHei"/>
              </a:rPr>
              <a:t>29%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11480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>
                <a:solidFill>
                  <a:srgbClr val="1F3A5F"/>
                </a:solidFill>
                <a:latin typeface="Microsoft JhengHei"/>
              </a:rPr>
              <a:t>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39319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F3A5F"/>
                </a:solidFill>
                <a:latin typeface="Microsoft JhengHei"/>
              </a:rPr>
              <a:t>醫療費 Medical_Fee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463040" y="4343400"/>
            <a:ext cx="8229600" cy="411480"/>
          </a:xfrm>
          <a:prstGeom prst="round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1463040" y="4343400"/>
            <a:ext cx="3127248" cy="411480"/>
          </a:xfrm>
          <a:prstGeom prst="roundRect">
            <a:avLst/>
          </a:prstGeom>
          <a:solidFill>
            <a:srgbClr val="FF8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875520" y="434340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8C00"/>
                </a:solidFill>
                <a:latin typeface="Microsoft JhengHei"/>
              </a:rPr>
              <a:t>19%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5029200"/>
            <a:ext cx="10972800" cy="1280160"/>
          </a:xfrm>
          <a:prstGeom prst="roundRect">
            <a:avLst/>
          </a:prstGeom>
          <a:solidFill>
            <a:srgbClr val="FFF8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512064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F3A5F"/>
                </a:solidFill>
                <a:latin typeface="Microsoft JhengHei"/>
              </a:rPr>
              <a:t>💡 解讀：法官看到「醫療費高、看護費高、傷得重」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55778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55555"/>
                </a:solidFill>
                <a:latin typeface="Microsoft JhengHei"/>
              </a:rPr>
              <a:t>→ 推定被害人「痛苦很深」→ 判更多慰撫金。</a:t>
            </a:r>
          </a:p>
          <a:p>
            <a:pPr algn="l"/>
            <a:r>
              <a:rPr sz="1400" b="0">
                <a:solidFill>
                  <a:srgbClr val="555555"/>
                </a:solidFill>
                <a:latin typeface="Microsoft JhengHei"/>
              </a:rPr>
              <a:t>  這跟我們直覺也吻合，代表 AI 學到的規律是合理的！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crosoft JhengHei"/>
              </a:rPr>
              <a:t>🔮 功能 1：AI 賠償預測 怎麼用？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465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Microsoft JhengHei"/>
              </a:rPr>
              <a:t>車禍精神慰撫金 AI 預測系統 ｜ 資料科學期末專題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  <a:latin typeface="Microsoft JhengHei"/>
              </a:rPr>
              <a:t>12 /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0972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F3A5F"/>
                </a:solidFill>
                <a:latin typeface="Microsoft JhengHei"/>
              </a:rPr>
              <a:t>操作流程（三步驟）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828800"/>
            <a:ext cx="10972800" cy="914400"/>
          </a:xfrm>
          <a:prstGeom prst="roundRect">
            <a:avLst/>
          </a:prstGeom>
          <a:solidFill>
            <a:srgbClr val="F4F6F9"/>
          </a:solidFill>
          <a:ln w="19050">
            <a:solidFill>
              <a:srgbClr val="0068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01168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1F3A5F"/>
                </a:solidFill>
                <a:latin typeface="Microsoft JhengHei"/>
              </a:rPr>
              <a:t>1️⃣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1938528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068C9"/>
                </a:solidFill>
                <a:latin typeface="Microsoft JhengHei"/>
              </a:rPr>
              <a:t>填案件條件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3317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55555"/>
                </a:solidFill>
                <a:latin typeface="Microsoft JhengHei"/>
              </a:rPr>
              <a:t>傷亡程度、醫療費、看護費、酒駕、過失比例...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2880360"/>
            <a:ext cx="10972800" cy="914400"/>
          </a:xfrm>
          <a:prstGeom prst="roundRect">
            <a:avLst/>
          </a:prstGeom>
          <a:solidFill>
            <a:srgbClr val="F4F6F9"/>
          </a:solidFill>
          <a:ln w="19050">
            <a:solidFill>
              <a:srgbClr val="FF8C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306324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1F3A5F"/>
                </a:solidFill>
                <a:latin typeface="Microsoft JhengHei"/>
              </a:rPr>
              <a:t>2️⃣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2990088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8C00"/>
                </a:solidFill>
                <a:latin typeface="Microsoft JhengHei"/>
              </a:rPr>
              <a:t>點「進行 AI 預測」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33832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55555"/>
                </a:solidFill>
                <a:latin typeface="Microsoft JhengHei"/>
              </a:rPr>
              <a:t>後端把資料送進 Random Forest 模型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931920"/>
            <a:ext cx="10972800" cy="914400"/>
          </a:xfrm>
          <a:prstGeom prst="roundRect">
            <a:avLst/>
          </a:prstGeom>
          <a:solidFill>
            <a:srgbClr val="F4F6F9"/>
          </a:solidFill>
          <a:ln w="19050">
            <a:solidFill>
              <a:srgbClr val="2E8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411480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1F3A5F"/>
                </a:solidFill>
                <a:latin typeface="Microsoft JhengHei"/>
              </a:rPr>
              <a:t>3️⃣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4041648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E8B57"/>
                </a:solidFill>
                <a:latin typeface="Microsoft JhengHei"/>
              </a:rPr>
              <a:t>看結果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44348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55555"/>
                </a:solidFill>
                <a:latin typeface="Microsoft JhengHei"/>
              </a:rPr>
              <a:t>顯示預估金額 + 參考區間 (±MAE)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5029200"/>
            <a:ext cx="10972800" cy="1280160"/>
          </a:xfrm>
          <a:prstGeom prst="roundRect">
            <a:avLst/>
          </a:prstGeom>
          <a:solidFill>
            <a:srgbClr val="E8F0FE"/>
          </a:solidFill>
          <a:ln w="19050">
            <a:solidFill>
              <a:srgbClr val="0068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512064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F3A5F"/>
                </a:solidFill>
                <a:latin typeface="Microsoft JhengHei"/>
              </a:rPr>
              <a:t>📋 範例：重傷 + 醫療費 10 萬 + 看護費 20 萬 + 無酒駕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56235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068C9"/>
                </a:solidFill>
                <a:latin typeface="Microsoft JhengHei"/>
              </a:rPr>
              <a:t>👉 AI 預測：NT$ 487,984（參考區間 NT$ 183,015 ~ NT$ 792,953）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crosoft JhengHei"/>
              </a:rPr>
              <a:t>💡 功能 2：教你少賠一點 (核心亮點)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465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Microsoft JhengHei"/>
              </a:rPr>
              <a:t>車禍精神慰撫金 AI 預測系統 ｜ 資料科學期末專題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  <a:latin typeface="Microsoft JhengHei"/>
              </a:rPr>
              <a:t>13 /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0972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8C00"/>
                </a:solidFill>
                <a:latin typeface="Microsoft JhengHei"/>
              </a:rPr>
              <a:t>做法：What-if 模擬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5544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55555"/>
                </a:solidFill>
                <a:latin typeface="Microsoft JhengHei"/>
              </a:rPr>
              <a:t>「固定其他條件，只改一個變數，看 AI 預測金額怎麼變」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72800" cy="2286000"/>
          </a:xfrm>
          <a:prstGeom prst="round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F3A5F"/>
                </a:solidFill>
                <a:latin typeface="Microsoft JhengHei"/>
              </a:rPr>
              <a:t>🎬 舉例：原案件預測賠 80 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743200"/>
            <a:ext cx="106984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3A5F"/>
                </a:solidFill>
                <a:latin typeface="Microsoft JhengHei"/>
              </a:rPr>
              <a:t>🅰  若主張對方有 20% 過失成功     → AI 重新預測：72 萬   省 8 萬</a:t>
            </a:r>
          </a:p>
          <a:p>
            <a:pPr algn="l"/>
            <a:r>
              <a:rPr sz="1400" b="0">
                <a:solidFill>
                  <a:srgbClr val="1F3A5F"/>
                </a:solidFill>
                <a:latin typeface="Microsoft JhengHei"/>
              </a:rPr>
              <a:t>🅱  若質疑看護費砍掉 50% 成功     → AI 重新預測：61 萬   省 19 萬   ⭐ 最有效</a:t>
            </a:r>
          </a:p>
          <a:p>
            <a:pPr algn="l"/>
            <a:r>
              <a:rPr sz="1400" b="0">
                <a:solidFill>
                  <a:srgbClr val="1F3A5F"/>
                </a:solidFill>
                <a:latin typeface="Microsoft JhengHei"/>
              </a:rPr>
              <a:t>🅲  若質疑醫療費砍掉 25% 成功     → AI 重新預測：75 萬   省 5 萬</a:t>
            </a:r>
          </a:p>
          <a:p>
            <a:pPr algn="l"/>
            <a:r>
              <a:rPr sz="1400" b="0">
                <a:solidFill>
                  <a:srgbClr val="1F3A5F"/>
                </a:solidFill>
                <a:latin typeface="Microsoft JhengHei"/>
              </a:rPr>
              <a:t>🅳  若質疑工作損失砍 50% 成功     → AI 重新預測：78 萬   省 2 萬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4663440"/>
            <a:ext cx="10972800" cy="1554480"/>
          </a:xfrm>
          <a:prstGeom prst="roundRect">
            <a:avLst/>
          </a:prstGeom>
          <a:solidFill>
            <a:srgbClr val="FFF3E0"/>
          </a:solidFill>
          <a:ln w="19050">
            <a:solidFill>
              <a:srgbClr val="FF8C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475488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8C00"/>
                </a:solidFill>
                <a:latin typeface="Microsoft JhengHei"/>
              </a:rPr>
              <a:t>✨ 為什麼這很厲害？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51663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F3A5F"/>
                </a:solidFill>
                <a:latin typeface="Microsoft JhengHei"/>
              </a:rPr>
              <a:t>傳統律師只能說「過失比例越高賠得越少」，但說不出具體幾元。</a:t>
            </a:r>
          </a:p>
          <a:p>
            <a:pPr algn="l"/>
            <a:r>
              <a:rPr sz="1300" b="0">
                <a:solidFill>
                  <a:srgbClr val="1F3A5F"/>
                </a:solidFill>
                <a:latin typeface="Microsoft JhengHei"/>
              </a:rPr>
              <a:t>我們的 AI 可以「實際算出每個策略能省多少」，讓使用者排優先順序！</a:t>
            </a:r>
          </a:p>
          <a:p>
            <a:pPr algn="l"/>
            <a:r>
              <a:rPr sz="1300" b="0">
                <a:solidFill>
                  <a:srgbClr val="1F3A5F"/>
                </a:solidFill>
                <a:latin typeface="Microsoft JhengHei"/>
              </a:rPr>
              <a:t>👉 把預測模型「逆向使用」變成決策輔助工具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crosoft JhengHei"/>
              </a:rPr>
              <a:t>🏗️ 系統怎麼跑起來？(技術架構)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465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Microsoft JhengHei"/>
              </a:rPr>
              <a:t>車禍精神慰撫金 AI 預測系統 ｜ 資料科學期末專題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  <a:latin typeface="Microsoft JhengHei"/>
              </a:rPr>
              <a:t>14 / 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0" y="1097280"/>
            <a:ext cx="3017520" cy="731520"/>
          </a:xfrm>
          <a:prstGeom prst="roundRect">
            <a:avLst/>
          </a:prstGeom>
          <a:solidFill>
            <a:srgbClr val="E8F0FE"/>
          </a:solidFill>
          <a:ln w="19050">
            <a:solidFill>
              <a:srgbClr val="0068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23444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068C9"/>
                </a:solidFill>
                <a:latin typeface="Microsoft JhengHei"/>
              </a:rPr>
              <a:t>👤 使用者瀏覽器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52160" y="1874519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555555"/>
                </a:solidFill>
                <a:latin typeface="Microsoft JhengHei"/>
              </a:rPr>
              <a:t>⬇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0" y="2286000"/>
            <a:ext cx="5760720" cy="914400"/>
          </a:xfrm>
          <a:prstGeom prst="roundRect">
            <a:avLst/>
          </a:prstGeom>
          <a:solidFill>
            <a:srgbClr val="E8F5E9"/>
          </a:solidFill>
          <a:ln w="19050">
            <a:solidFill>
              <a:srgbClr val="2E8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0" y="2423160"/>
            <a:ext cx="5760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2E8B57"/>
                </a:solidFill>
                <a:latin typeface="Microsoft JhengHei"/>
              </a:rPr>
              <a:t>🎨 Streamlit 網站 (app.py + pages/)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2788920"/>
            <a:ext cx="5760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55555"/>
                </a:solidFill>
                <a:latin typeface="Microsoft JhengHei"/>
              </a:rPr>
              <a:t>三個頁面：預測 / 減少建議 / 資料探索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60" y="32461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555555"/>
                </a:solidFill>
                <a:latin typeface="Microsoft JhengHei"/>
              </a:rPr>
              <a:t>⬇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00400" y="3657600"/>
            <a:ext cx="5760720" cy="914400"/>
          </a:xfrm>
          <a:prstGeom prst="roundRect">
            <a:avLst/>
          </a:prstGeom>
          <a:solidFill>
            <a:srgbClr val="FFF3E0"/>
          </a:solidFill>
          <a:ln w="19050">
            <a:solidFill>
              <a:srgbClr val="FF8C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00400" y="3794760"/>
            <a:ext cx="5760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8C00"/>
                </a:solidFill>
                <a:latin typeface="Microsoft JhengHei"/>
              </a:rPr>
              <a:t>🧠 predictor.py (模型載入與預測)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4160520"/>
            <a:ext cx="5760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55555"/>
                </a:solidFill>
                <a:latin typeface="Microsoft JhengHei"/>
              </a:rPr>
              <a:t>load_model() / predict_amount()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52160" y="46177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555555"/>
                </a:solidFill>
                <a:latin typeface="Microsoft JhengHei"/>
              </a:rPr>
              <a:t>⬇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371600" y="5029200"/>
            <a:ext cx="4114800" cy="914400"/>
          </a:xfrm>
          <a:prstGeom prst="roundRect">
            <a:avLst/>
          </a:prstGeom>
          <a:solidFill>
            <a:srgbClr val="F4F6F9"/>
          </a:solidFill>
          <a:ln w="1905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371600" y="516636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F3A5F"/>
                </a:solidFill>
                <a:latin typeface="Microsoft JhengHei"/>
              </a:rPr>
              <a:t>📦 models/rf_model.pkl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553212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55555"/>
                </a:solidFill>
                <a:latin typeface="Microsoft JhengHei"/>
              </a:rPr>
              <a:t>已訓練的 Random Forest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675120" y="5029200"/>
            <a:ext cx="4114800" cy="914400"/>
          </a:xfrm>
          <a:prstGeom prst="roundRect">
            <a:avLst/>
          </a:prstGeom>
          <a:solidFill>
            <a:srgbClr val="F4F6F9"/>
          </a:solidFill>
          <a:ln w="1905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75120" y="516636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F3A5F"/>
                </a:solidFill>
                <a:latin typeface="Microsoft JhengHei"/>
              </a:rPr>
              <a:t>📊 data/dataset_cleaned.csv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75120" y="553212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55555"/>
                </a:solidFill>
                <a:latin typeface="Microsoft JhengHei"/>
              </a:rPr>
              <a:t>7,050 筆訓練資料（給 EDA 用）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21792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F3A5F"/>
                </a:solidFill>
                <a:latin typeface="Microsoft JhengHei"/>
              </a:rPr>
              <a:t>🚀 一行指令啟動：streamlit run app.py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Microsoft JhengHei"/>
              </a:rPr>
              <a:t>✨ 總結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3727" y="1554480"/>
            <a:ext cx="356616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68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3727" y="1737360"/>
            <a:ext cx="3566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0">
                <a:solidFill>
                  <a:srgbClr val="1F3A5F"/>
                </a:solidFill>
                <a:latin typeface="Microsoft JhengHei"/>
              </a:rPr>
              <a:t>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3727" y="256032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068C9"/>
                </a:solidFill>
                <a:latin typeface="Microsoft JhengHei"/>
              </a:rPr>
              <a:t>解決真實問題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3727" y="3017520"/>
            <a:ext cx="3566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555555"/>
                </a:solidFill>
                <a:latin typeface="Microsoft JhengHei"/>
              </a:rPr>
              <a:t>精神慰撫金法官靠心證，</a:t>
            </a:r>
          </a:p>
          <a:p>
            <a:pPr algn="ctr"/>
            <a:r>
              <a:rPr sz="1300" b="0">
                <a:solidFill>
                  <a:srgbClr val="555555"/>
                </a:solidFill>
                <a:latin typeface="Microsoft JhengHei"/>
              </a:rPr>
              <a:t>民眾完全無從預估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12767" y="1554480"/>
            <a:ext cx="356616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E8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12767" y="1737360"/>
            <a:ext cx="3566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0">
                <a:solidFill>
                  <a:srgbClr val="1F3A5F"/>
                </a:solidFill>
                <a:latin typeface="Microsoft JhengHei"/>
              </a:rPr>
              <a:t>🤖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12767" y="256032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2E8B57"/>
                </a:solidFill>
                <a:latin typeface="Microsoft JhengHei"/>
              </a:rPr>
              <a:t>用 AI 找規律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12767" y="3017520"/>
            <a:ext cx="3566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555555"/>
                </a:solidFill>
                <a:latin typeface="Microsoft JhengHei"/>
              </a:rPr>
              <a:t>7,050 筆判決訓練</a:t>
            </a:r>
          </a:p>
          <a:p>
            <a:pPr algn="ctr"/>
            <a:r>
              <a:rPr sz="1300" b="0">
                <a:solidFill>
                  <a:srgbClr val="555555"/>
                </a:solidFill>
                <a:latin typeface="Microsoft JhengHei"/>
              </a:rPr>
              <a:t>Random Forest 模型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61807" y="1554480"/>
            <a:ext cx="356616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F8C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61807" y="1737360"/>
            <a:ext cx="3566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0">
                <a:solidFill>
                  <a:srgbClr val="1F3A5F"/>
                </a:solidFill>
                <a:latin typeface="Microsoft JhengHei"/>
              </a:rPr>
              <a:t>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61807" y="256032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8C00"/>
                </a:solidFill>
                <a:latin typeface="Microsoft JhengHei"/>
              </a:rPr>
              <a:t>創新亮點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61807" y="3017520"/>
            <a:ext cx="3566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555555"/>
                </a:solidFill>
                <a:latin typeface="Microsoft JhengHei"/>
              </a:rPr>
              <a:t>What-if 模擬</a:t>
            </a:r>
          </a:p>
          <a:p>
            <a:pPr algn="ctr"/>
            <a:r>
              <a:rPr sz="1300" b="0">
                <a:solidFill>
                  <a:srgbClr val="555555"/>
                </a:solidFill>
                <a:latin typeface="Microsoft JhengHei"/>
              </a:rPr>
              <a:t>反向給出減賠策略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371600" y="4114800"/>
            <a:ext cx="9418320" cy="1371600"/>
          </a:xfrm>
          <a:prstGeom prst="roundRect">
            <a:avLst/>
          </a:prstGeom>
          <a:solidFill>
            <a:srgbClr val="2C4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71600" y="4297680"/>
            <a:ext cx="9418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JhengHei"/>
              </a:rPr>
              <a:t>📈 模型成績：MAE 304,969 元 ｜ 比盲猜進步 38.4% ｜ R² = 0.46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4846320"/>
            <a:ext cx="9418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4F6F9"/>
                </a:solidFill>
                <a:latin typeface="Microsoft JhengHei"/>
              </a:rPr>
              <a:t>🌐 互動式網站已上線可試用：streamlit run app.py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576072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8C00"/>
                </a:solidFill>
                <a:latin typeface="Microsoft JhengHei"/>
              </a:rPr>
              <a:t>Thank you 🙏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