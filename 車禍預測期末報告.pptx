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車禍案件：精神慰撫金 AI 預測系統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政大資科所碩專班資料科學期末專題報告（第一組）</a:t>
            </a:r>
          </a:p>
          <a:p>
            <a:pPr>
              <a:defRPr sz="2000">
                <a:latin typeface="微軟正黑體"/>
              </a:defRPr>
            </a:pPr>
            <a:r>
              <a:t>蔡宗益 114971003</a:t>
            </a:r>
          </a:p>
          <a:p>
            <a:pPr>
              <a:defRPr sz="2000">
                <a:latin typeface="微軟正黑體"/>
              </a:defRPr>
            </a:pPr>
            <a:r>
              <a:t>熊　恩 114971007</a:t>
            </a:r>
          </a:p>
          <a:p>
            <a:pPr>
              <a:defRPr sz="2000">
                <a:latin typeface="微軟正黑體"/>
              </a:defRPr>
            </a:pPr>
            <a:r>
              <a:t>侯佳宏 114971019</a:t>
            </a:r>
          </a:p>
          <a:p>
            <a:pPr>
              <a:defRPr sz="2000">
                <a:latin typeface="微軟正黑體"/>
              </a:defRPr>
            </a:pPr>
            <a:r>
              <a:t>莊一桂 114971021</a:t>
            </a:r>
          </a:p>
          <a:p>
            <a:pPr>
              <a:defRPr sz="2000">
                <a:latin typeface="微軟正黑體"/>
              </a:defRPr>
            </a:pPr>
            <a:r>
              <a:t>王思承 114971026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1. Input - 研究目標與資料來源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研究目標</a:t>
            </a:r>
          </a:p>
          <a:p>
            <a:pPr lvl="1">
              <a:defRPr sz="2000">
                <a:latin typeface="微軟正黑體"/>
              </a:defRPr>
            </a:pPr>
            <a:r>
              <a:t>解決「精神慰撫金」長期仰賴法官心證，缺乏明確預測標準的問題。</a:t>
            </a:r>
          </a:p>
          <a:p>
            <a:pPr>
              <a:defRPr sz="2000">
                <a:latin typeface="微軟正黑體"/>
              </a:defRPr>
            </a:pPr>
            <a:r>
              <a:t>資料來源 (Data Source)</a:t>
            </a:r>
          </a:p>
          <a:p>
            <a:pPr lvl="1">
              <a:defRPr sz="2000">
                <a:latin typeface="微軟正黑體"/>
              </a:defRPr>
            </a:pPr>
            <a:r>
              <a:t>司法院裁判書開放資料 (2023.01 ~ 2025.04)</a:t>
            </a:r>
          </a:p>
          <a:p>
            <a:pPr lvl="1">
              <a:defRPr sz="2000">
                <a:latin typeface="微軟正黑體"/>
              </a:defRPr>
            </a:pPr>
            <a:r>
              <a:t>篩選「車禍/交通事故」且案由為「損害賠償」之案件。</a:t>
            </a:r>
          </a:p>
          <a:p>
            <a:pPr lvl="1">
              <a:defRPr sz="2000">
                <a:latin typeface="微軟正黑體"/>
              </a:defRPr>
            </a:pPr>
            <a:r>
              <a:t>原始樣本共 7,536 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1. Input - 資料預處理 (Preprocessing)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處理缺失值 (Handle missing data)</a:t>
            </a:r>
          </a:p>
          <a:p>
            <a:pPr lvl="1">
              <a:defRPr sz="2000">
                <a:latin typeface="微軟正黑體"/>
              </a:defRPr>
            </a:pPr>
            <a:r>
              <a:t>醫療費、看護費等未提及項目補 0；剔除無目標變數之無效案件。</a:t>
            </a:r>
          </a:p>
          <a:p>
            <a:pPr>
              <a:defRPr sz="2000">
                <a:latin typeface="微軟正黑體"/>
              </a:defRPr>
            </a:pPr>
            <a:r>
              <a:t>處理異常值 (Outliers)</a:t>
            </a:r>
          </a:p>
          <a:p>
            <a:pPr lvl="1">
              <a:defRPr sz="2000">
                <a:latin typeface="微軟正黑體"/>
              </a:defRPr>
            </a:pPr>
            <a:r>
              <a:t>排除極端判決 (慰撫金低於1萬或高於1000萬)，最終保留 7,050 筆。</a:t>
            </a:r>
          </a:p>
          <a:p>
            <a:pPr>
              <a:defRPr sz="2000">
                <a:latin typeface="微軟正黑體"/>
              </a:defRPr>
            </a:pPr>
            <a:r>
              <a:t>特徵縮放 (Scale value)</a:t>
            </a:r>
          </a:p>
          <a:p>
            <a:pPr lvl="1">
              <a:defRPr sz="2000">
                <a:latin typeface="微軟正黑體"/>
              </a:defRPr>
            </a:pPr>
            <a:r>
              <a:t>對金額特徵進行對數轉換 (Log Transform)，穩定模型訓練。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2. Modeling - 模型建構策略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演算法選擇 (Which method?)</a:t>
            </a:r>
          </a:p>
          <a:p>
            <a:pPr lvl="1">
              <a:defRPr sz="2000">
                <a:latin typeface="微軟正黑體"/>
              </a:defRPr>
            </a:pPr>
            <a:r>
              <a:t>Random Forest Regressor (隨機森林迴歸)</a:t>
            </a:r>
          </a:p>
          <a:p>
            <a:pPr>
              <a:defRPr sz="2000">
                <a:latin typeface="微軟正黑體"/>
              </a:defRPr>
            </a:pPr>
            <a:r>
              <a:t>基準模型 (Null model for comparison)</a:t>
            </a:r>
          </a:p>
          <a:p>
            <a:pPr lvl="1">
              <a:defRPr sz="2000">
                <a:latin typeface="微軟正黑體"/>
              </a:defRPr>
            </a:pPr>
            <a:r>
              <a:t>以訓練集慰撫金「平均值」作為所有案件盲猜預測值。</a:t>
            </a:r>
          </a:p>
          <a:p>
            <a:pPr>
              <a:defRPr sz="2000">
                <a:latin typeface="微軟正黑體"/>
              </a:defRPr>
            </a:pPr>
            <a:r>
              <a:t>訓練設定 (Train Model)</a:t>
            </a:r>
          </a:p>
          <a:p>
            <a:pPr lvl="1">
              <a:defRPr sz="2000">
                <a:latin typeface="微軟正黑體"/>
              </a:defRPr>
            </a:pPr>
            <a:r>
              <a:t>Train/Test Split: 80% (5640筆) / 20% (1410筆)。</a:t>
            </a:r>
          </a:p>
          <a:p>
            <a:pPr lvl="1">
              <a:defRPr sz="2000">
                <a:latin typeface="微軟正黑體"/>
              </a:defRPr>
            </a:pPr>
            <a:r>
              <a:t>Hyperparameter Tuning: 使用 Grid Search 設定 max_depth=10, min_samples_leaf=5 避免 overfitting。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3. Results - 成效評估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評估指標 (Which metric do you pick up? Why?)</a:t>
            </a:r>
          </a:p>
          <a:p>
            <a:pPr lvl="1">
              <a:defRPr sz="2000">
                <a:latin typeface="微軟正黑體"/>
              </a:defRPr>
            </a:pPr>
            <a:r>
              <a:t>選用 MAE (平均絕對誤差)。相較於 RMSE，MAE 能直觀反映預測金與實際金額的「平均差距元數」，具實務意義。</a:t>
            </a:r>
          </a:p>
          <a:p>
            <a:pPr>
              <a:defRPr sz="2000">
                <a:latin typeface="微軟正黑體"/>
              </a:defRPr>
            </a:pPr>
            <a:r>
              <a:t>顯著進步 (Is your improvement significant?)</a:t>
            </a:r>
          </a:p>
          <a:p>
            <a:pPr lvl="1">
              <a:defRPr sz="2000">
                <a:latin typeface="微軟正黑體"/>
              </a:defRPr>
            </a:pPr>
            <a:r>
              <a:t>Null Model MAE: 494,720 元</a:t>
            </a:r>
          </a:p>
          <a:p>
            <a:pPr lvl="1">
              <a:defRPr sz="2000">
                <a:latin typeface="微軟正黑體"/>
              </a:defRPr>
            </a:pPr>
            <a:r>
              <a:t>Random Forest MAE: 304,969 元</a:t>
            </a:r>
          </a:p>
          <a:p>
            <a:pPr lvl="1">
              <a:defRPr sz="2000">
                <a:latin typeface="微軟正黑體"/>
              </a:defRPr>
            </a:pPr>
            <a:r>
              <a:t>結論：準確度顯著提升 38.4% (R-squared: 0.46)。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3. Results - 影響判決的關鍵特徵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特徵重要性 (Feature Importance)</a:t>
            </a:r>
          </a:p>
          <a:p>
            <a:pPr lvl="1">
              <a:defRPr sz="2000">
                <a:latin typeface="微軟正黑體"/>
              </a:defRPr>
            </a:pPr>
            <a:r>
              <a:t>1. 看護費用 (Care_Fee) - 39%</a:t>
            </a:r>
          </a:p>
          <a:p>
            <a:pPr lvl="1">
              <a:defRPr sz="2000">
                <a:latin typeface="微軟正黑體"/>
              </a:defRPr>
            </a:pPr>
            <a:r>
              <a:t>2. 傷亡嚴重度 (Injury_Level) - 28%</a:t>
            </a:r>
          </a:p>
          <a:p>
            <a:pPr lvl="1">
              <a:defRPr sz="2000">
                <a:latin typeface="微軟正黑體"/>
              </a:defRPr>
            </a:pPr>
            <a:r>
              <a:t>3. 醫療費用 (Medical_Fee) - 18%</a:t>
            </a:r>
          </a:p>
          <a:p>
            <a:pPr>
              <a:defRPr sz="2000">
                <a:latin typeface="微軟正黑體"/>
              </a:defRPr>
            </a:pPr>
            <a:r>
              <a:t>實務法學洞察</a:t>
            </a:r>
          </a:p>
          <a:p>
            <a:pPr lvl="1">
              <a:defRPr sz="2000">
                <a:latin typeface="微軟正黑體"/>
              </a:defRPr>
            </a:pPr>
            <a:r>
              <a:t>被害人所需要的照護費用與醫療支出越高，法官越容易認定其受到的精神痛苦巨大，進而判賠更高的精神慰撫金。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微軟正黑體"/>
              </a:defRPr>
            </a:pPr>
            <a:r>
              <a:t>4. Demo - 系統展示與專案挑戰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微軟正黑體"/>
              </a:defRPr>
            </a:pPr>
            <a:r>
              <a:t>線上視覺化展示 (On-line visualization)</a:t>
            </a:r>
          </a:p>
          <a:p>
            <a:pPr lvl="1">
              <a:defRPr sz="2000">
                <a:latin typeface="微軟正黑體"/>
              </a:defRPr>
            </a:pPr>
            <a:r>
              <a:t>使用 Streamlit 建立互動式 Web App，即時輸入條件試算慰撫金。</a:t>
            </a:r>
          </a:p>
          <a:p>
            <a:pPr>
              <a:defRPr sz="2000">
                <a:latin typeface="微軟正黑體"/>
              </a:defRPr>
            </a:pPr>
            <a:r>
              <a:t>重現步驟 (How to reproduce)</a:t>
            </a:r>
          </a:p>
          <a:p>
            <a:pPr lvl="1">
              <a:defRPr sz="2000">
                <a:latin typeface="微軟正黑體"/>
              </a:defRPr>
            </a:pPr>
            <a:r>
              <a:t>所有程式碼已公開於 GitHub，執行 demo_app.py 即可重現。</a:t>
            </a:r>
          </a:p>
          <a:p>
            <a:pPr>
              <a:defRPr sz="2000">
                <a:latin typeface="微軟正黑體"/>
              </a:defRPr>
            </a:pPr>
            <a:r>
              <a:t>專案最大挑戰 (Challenge)</a:t>
            </a:r>
          </a:p>
          <a:p>
            <a:pPr lvl="1">
              <a:defRPr sz="2000">
                <a:latin typeface="微軟正黑體"/>
              </a:defRPr>
            </a:pPr>
            <a:r>
              <a:t>司法文書格式極度不統一，需開發複雜之 Regular Expression 自數十萬字非結構化中文中，精準萃取賠償金額與特徵。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